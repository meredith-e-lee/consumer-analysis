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dc07f5bf-0cea-bc5a-c97a-e555890ef655}">
          <p14:sldIdLst>
            <p14:sldId id="256"/>
          </p14:sldIdLst>
        </p14:section>
        <p14:section name="Summary" id="{6874c44d-b9cb-26cc-61bc-94ef1b32641f}">
          <p14:sldIdLst>
            <p14:sldId id="257"/>
          </p14:sldIdLst>
        </p14:section>
        <p14:section name="Findings" id="{f67a4023-3bed-2ac5-2ada-59f8deebcb9a}">
          <p14:sldIdLst>
            <p14:sldId id="258"/>
            <p14:sldId id="259"/>
            <p14:sldId id="260"/>
            <p14:sldId id="261"/>
            <p14:sldId id="262"/>
          </p14:sldIdLst>
        </p14:section>
        <p14:section name="Opportunity" id="{ccc57ada-cf3f-cc36-35f8-32e1637c45d6}">
          <p14:sldIdLst>
            <p14:sldId id="263"/>
          </p14:sldIdLst>
        </p14:section>
        <p14:section name="Risks" id="{767bd649-a2b4-205b-a11a-4bee4f80cc82}">
          <p14:sldIdLst>
            <p14:sldId id="264"/>
          </p14:sldIdLst>
        </p14:section>
        <p14:section name="Recommendations" id="{fcda2ce2-0f1a-ed8d-eafd-612b1b150752}">
          <p14:sldIdLst>
            <p14:sldId id="265"/>
          </p14:sldIdLst>
        </p14:section>
        <p14:section name="Appendix" id="{d07c5665-9e1f-5fec-4e3c-2c7b7b4becf5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3A3F47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3A3F47"/>
                </a:solidFill>
                <a:latin typeface="+mn-lt"/>
              </a:rPr>
              <a:t>Calls by year (thousands)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(thousands)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0D0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3F4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3F4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2008</c:v>
                  </c:pt>
                  <c:pt idx="1">
                    <c:v>2009</c:v>
                  </c:pt>
                  <c:pt idx="2">
                    <c:v>2010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27.7</c:v>
                </c:pt>
                <c:pt idx="1">
                  <c:v>14.9</c:v>
                </c:pt>
                <c:pt idx="2">
                  <c:v>2.6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D0D0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l"/>
        <c:majorGridlines>
          <c:spPr>
            <a:ln w="6350" cap="flat">
              <a:solidFill>
                <a:srgbClr val="E1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3A3F47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3A3F47"/>
                </a:solidFill>
                <a:latin typeface="+mn-lt"/>
              </a:rPr>
              <a:t>Conversion rate by year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(%)</c:v>
                </c:pt>
              </c:strCache>
            </c:strRef>
          </c:tx>
          <c:spPr>
            <a:solidFill>
              <a:srgbClr val="3A3F4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0D0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3F4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3F4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2008</c:v>
                  </c:pt>
                  <c:pt idx="1">
                    <c:v>2009</c:v>
                  </c:pt>
                  <c:pt idx="2">
                    <c:v>2010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5.1</c:v>
                </c:pt>
                <c:pt idx="1">
                  <c:v>17.1</c:v>
                </c:pt>
                <c:pt idx="2">
                  <c:v>51.6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D0D0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"/>
          <c:min val="0"/>
        </c:scaling>
        <c:delete val="1"/>
        <c:axPos val="l"/>
        <c:majorGridlines>
          <c:spPr>
            <a:ln w="6350" cap="flat">
              <a:solidFill>
                <a:srgbClr val="E1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3A3F47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3A3F47"/>
                </a:solidFill>
                <a:latin typeface="+mn-lt"/>
              </a:rPr>
              <a:t>Share of each year's calls going to each client type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2008</c:v>
                </c:pt>
              </c:strCache>
            </c:strRef>
          </c:tx>
          <c:spPr>
            <a:solidFill>
              <a:srgbClr val="B8BFC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0D0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Aged 60+</c:v>
                  </c:pt>
                  <c:pt idx="1">
                    <c:v>No housing or personal loan</c:v>
                  </c:pt>
                  <c:pt idx="2">
                    <c:v>Had a prior campaign contact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35.6</c:v>
                </c:pt>
                <c:pt idx="2">
                  <c:v>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2009</c:v>
                </c:pt>
              </c:strCache>
            </c:strRef>
          </c:tx>
          <c:spPr>
            <a:solidFill>
              <a:srgbClr val="6B748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0D0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Aged 60+</c:v>
                  </c:pt>
                  <c:pt idx="1">
                    <c:v>No housing or personal loan</c:v>
                  </c:pt>
                  <c:pt idx="2">
                    <c:v>Had a prior campaign contact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5.8</c:v>
                </c:pt>
                <c:pt idx="1">
                  <c:v>35.9</c:v>
                </c:pt>
                <c:pt idx="2">
                  <c:v>37.8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2010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0D0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Aged 60+</c:v>
                  </c:pt>
                  <c:pt idx="1">
                    <c:v>No housing or personal loan</c:v>
                  </c:pt>
                  <c:pt idx="2">
                    <c:v>Had a prior campaign contact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19.7</c:v>
                </c:pt>
                <c:pt idx="1">
                  <c:v>76.2</c:v>
                </c:pt>
                <c:pt idx="2">
                  <c:v>65.6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D0D0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majorGridlines>
          <c:spPr>
            <a:ln w="6350" cap="flat">
              <a:solidFill>
                <a:srgbClr val="E1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C657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3A3F47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3A3F47"/>
                </a:solidFill>
                <a:latin typeface="+mn-lt"/>
              </a:rPr>
              <a:t>Conversion rate by outcome of the client's previous campaign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(%)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0D0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3F4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3F4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3F4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Prior success</c:v>
                  </c:pt>
                  <c:pt idx="1">
                    <c:v>Prior: other</c:v>
                  </c:pt>
                  <c:pt idx="2">
                    <c:v>Prior failure</c:v>
                  </c:pt>
                  <c:pt idx="3">
                    <c:v>No prior contact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64.7</c:v>
                </c:pt>
                <c:pt idx="1">
                  <c:v>16.7</c:v>
                </c:pt>
                <c:pt idx="2">
                  <c:v>12.6</c:v>
                </c:pt>
                <c:pt idx="3">
                  <c:v>9.2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D0D0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majorGridlines>
          <c:spPr>
            <a:ln w="6350" cap="flat">
              <a:solidFill>
                <a:srgbClr val="E1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3A3F47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3A3F47"/>
                </a:solidFill>
                <a:latin typeface="+mn-lt"/>
              </a:rPr>
              <a:t>Conversion rate by client segment (%; segments overlap)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(%)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0D0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3F4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8BFC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8BFC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8BFCA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Age 60+</c:v>
                  </c:pt>
                  <c:pt idx="1">
                    <c:v>Student</c:v>
                  </c:pt>
                  <c:pt idx="2">
                    <c:v>Retired</c:v>
                  </c:pt>
                  <c:pt idx="3">
                    <c:v>No housing or personal loan</c:v>
                  </c:pt>
                  <c:pt idx="4">
                    <c:v>Tertiary education</c:v>
                  </c:pt>
                  <c:pt idx="5">
                    <c:v>Campaign average</c:v>
                  </c:pt>
                  <c:pt idx="6">
                    <c:v>Housing loan</c:v>
                  </c:pt>
                  <c:pt idx="7">
                    <c:v>Blue-collar</c:v>
                  </c:pt>
                  <c:pt idx="8">
                    <c:v>Personal loan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33.6</c:v>
                </c:pt>
                <c:pt idx="1">
                  <c:v>28.7</c:v>
                </c:pt>
                <c:pt idx="2">
                  <c:v>22.8</c:v>
                </c:pt>
                <c:pt idx="3">
                  <c:v>18.2</c:v>
                </c:pt>
                <c:pt idx="4">
                  <c:v>15</c:v>
                </c:pt>
                <c:pt idx="5">
                  <c:v>11.7</c:v>
                </c:pt>
                <c:pt idx="6">
                  <c:v>7.7</c:v>
                </c:pt>
                <c:pt idx="7">
                  <c:v>7.3</c:v>
                </c:pt>
                <c:pt idx="8">
                  <c:v>6.7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D0D0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  <c:min val="0"/>
        </c:scaling>
        <c:delete val="1"/>
        <c:axPos val="b"/>
        <c:majorGridlines>
          <c:spPr>
            <a:ln w="6350" cap="flat">
              <a:solidFill>
                <a:srgbClr val="E1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3A3F47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3A3F47"/>
                </a:solidFill>
                <a:latin typeface="+mn-lt"/>
              </a:rPr>
              <a:t>Conversion rate by attempt number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(%)</c:v>
                </c:pt>
              </c:strCache>
            </c:strRef>
          </c:tx>
          <c:spPr>
            <a:solidFill>
              <a:srgbClr val="C8102E"/>
            </a:solidFill>
            <a:ln w="3810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0D0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14.6</c:v>
                </c:pt>
                <c:pt idx="1">
                  <c:v>11.2</c:v>
                </c:pt>
                <c:pt idx="2">
                  <c:v>11.2</c:v>
                </c:pt>
                <c:pt idx="3">
                  <c:v>9</c:v>
                </c:pt>
                <c:pt idx="4">
                  <c:v>7.9</c:v>
                </c:pt>
                <c:pt idx="5">
                  <c:v>7.1</c:v>
                </c:pt>
                <c:pt idx="6">
                  <c:v>6.4</c:v>
                </c:pt>
                <c:pt idx="7">
                  <c:v>5.9</c:v>
                </c:pt>
                <c:pt idx="8">
                  <c:v>6.4</c:v>
                </c:pt>
                <c:pt idx="9">
                  <c:v>5.3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D0D0D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57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6577"/>
                    </a:solidFill>
                    <a:latin typeface="Arial"/>
                  </a:rPr>
                  <a:t>Attempt number in this campaign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l"/>
        <c:majorGridlines>
          <c:spPr>
            <a:ln w="6350" cap="flat">
              <a:solidFill>
                <a:srgbClr val="E1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3A3F47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3A3F47"/>
                </a:solidFill>
                <a:latin typeface="+mn-lt"/>
              </a:rPr>
              <a:t>Share of all subscribers reached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Clients ranked by model</c:v>
                </c:pt>
              </c:strCache>
            </c:strRef>
          </c:tx>
          <c:spPr>
            <a:solidFill>
              <a:srgbClr val="C8102E"/>
            </a:solidFill>
            <a:ln w="38100" cap="flat">
              <a:solidFill>
                <a:srgbClr val="C8102E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0D0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  <c:pt idx="6">
                    <c:v>60%</c:v>
                  </c:pt>
                  <c:pt idx="7">
                    <c:v>70%</c:v>
                  </c:pt>
                  <c:pt idx="8">
                    <c:v>80%</c:v>
                  </c:pt>
                  <c:pt idx="9">
                    <c:v>90%</c:v>
                  </c:pt>
                  <c:pt idx="10">
                    <c:v>100%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35.2</c:v>
                </c:pt>
                <c:pt idx="2">
                  <c:v>50.1</c:v>
                </c:pt>
                <c:pt idx="3">
                  <c:v>61.1</c:v>
                </c:pt>
                <c:pt idx="4">
                  <c:v>70.3</c:v>
                </c:pt>
                <c:pt idx="5">
                  <c:v>77.1</c:v>
                </c:pt>
                <c:pt idx="6">
                  <c:v>82.4</c:v>
                </c:pt>
                <c:pt idx="7">
                  <c:v>87.6</c:v>
                </c:pt>
                <c:pt idx="8">
                  <c:v>91.8</c:v>
                </c:pt>
                <c:pt idx="9">
                  <c:v>96.5</c:v>
                </c:pt>
                <c:pt idx="10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Calling in random order</c:v>
                </c:pt>
              </c:strCache>
            </c:strRef>
          </c:tx>
          <c:spPr>
            <a:solidFill>
              <a:srgbClr val="B8BFCA"/>
            </a:solidFill>
            <a:ln w="38100" cap="flat">
              <a:solidFill>
                <a:srgbClr val="B8BFCA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0D0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BFCA"/>
              </a:solidFill>
              <a:ln w="9525" cap="flat">
                <a:solidFill>
                  <a:srgbClr val="B8BFC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  <c:pt idx="6">
                    <c:v>60%</c:v>
                  </c:pt>
                  <c:pt idx="7">
                    <c:v>70%</c:v>
                  </c:pt>
                  <c:pt idx="8">
                    <c:v>80%</c:v>
                  </c:pt>
                  <c:pt idx="9">
                    <c:v>90%</c:v>
                  </c:pt>
                  <c:pt idx="10">
                    <c:v>100%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0D0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57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6577"/>
                    </a:solidFill>
                    <a:latin typeface="Arial"/>
                  </a:rPr>
                  <a:t>Share of clients called (highest-scored first)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1E5E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C657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3A3F47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3A3F47"/>
                </a:solidFill>
                <a:latin typeface="+mn-lt"/>
              </a:rPr>
              <a:t>Model accuracy (AUC; 0.50 = guessing, axis starts at 0.50)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split (easier test)</c:v>
                </c:pt>
              </c:strCache>
            </c:strRef>
          </c:tx>
          <c:spPr>
            <a:solidFill>
              <a:srgbClr val="B8BFC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0D0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Client-only model</c:v>
                  </c:pt>
                  <c:pt idx="1">
                    <c:v>Client + campaign-timing model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0.735</c:v>
                </c:pt>
                <c:pt idx="1">
                  <c:v>0.797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Later period (realistic test)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0D0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Client-only model</c:v>
                  </c:pt>
                  <c:pt idx="1">
                    <c:v>Client + campaign-timing model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0.727</c:v>
                </c:pt>
                <c:pt idx="1">
                  <c:v>0.696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D0D0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.5"/>
        </c:scaling>
        <c:delete val="1"/>
        <c:axPos val="l"/>
        <c:majorGridlines>
          <c:spPr>
            <a:ln w="6350" cap="flat">
              <a:solidFill>
                <a:srgbClr val="E1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C657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the bank has three years of outbound call data. The question for leadership is not 'what happened' but 'where do we point the next call'.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parallel messages: scale, concentration, root cause, action. The 60% figure is test-set based: 50% of subscribers from 20% of calls vs. 50% of calls under random dialling.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2008: 27,729 calls, 1,401 subscriptions. 2009: 14,862 calls, 2,536 subscriptions. 2010: 2,620 calls, 1,352 subscriptions.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root cause: the improvement in headline conversion is primarily a mix effect, i.e. who was called, not a change in how clients respond.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 success n=1,511, 978 subscriptions. 30-90 day group is 530 clients. The 14 to 30 day group is too small (188) to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Pooled gaps are inflated because the years with more older and debt-free clients also had much higher success rates for other reasons (confounding). The controlled estimates are the ones to plan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Attempts 4+ : 9,641 calls, 709 subscriptions. Attempt-level conversion computed on all calls; points beyond 10 attempts have thin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boosting reached AUC 0.742 vs 0.735 for logistic regression, so we recommend the simpler and more stable model. Top 10%: 35% of subscribers at 3.5x lift.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boosting with timing features fell from 0.810 to 0.632 out of time; the decision tree from 0.783 to 0.625. Logistic regression client-only is the most stable 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Sequence: 01 and 02 can start immediately from existing data; 03 is a policy change; 04 is the governance that keeps the gains.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methodology, charts and code are in the accompanying notebook (descriptive_stats.ipynb).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1672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i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chemeClr val="accent3"/>
                </a:solidFill>
              </a:rPr>
              <a:t>TERM-DEPOSIT CAMPAIGN REVIEW   |   CONSUMER ANALYSIS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1672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i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chemeClr val="accent3"/>
                </a:solidFill>
              </a:rPr>
              <a:t>TERM-DEPOSIT CAMPAIGN REVIEW   |   CONSUMER ANALYSIS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65960"/>
            <a:ext cx="11091672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i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chemeClr val="accent3"/>
                </a:solidFill>
              </a:rPr>
              <a:t>TERM-DEPOSIT CAMPAIGN REVIEW   |   CONSUMER ANALYSIS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CAMPAIGN REVIEW  |  TERM-DEPOSIT MARKETING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965960"/>
            <a:ext cx="11091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i="1" dirty="0">
                <a:solidFill>
                  <a:schemeClr val="bg1"/>
                </a:solidFill>
              </a:rPr>
              <a:t>Calling smarter, not more: turning an 11.7% hit rate into a prioritised call list</a:t>
            </a:r>
            <a:endParaRPr lang="en-US" sz="3800" dirty="0"/>
          </a:p>
        </p:txBody>
      </p:sp>
      <p:sp>
        <p:nvSpPr>
          <p:cNvPr id="4" name="Scope"/>
          <p:cNvSpPr txBox="1"/>
          <p:nvPr/>
        </p:nvSpPr>
        <p:spPr>
          <a:xfrm>
            <a:off x="54864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45,211 client calls   |   May 2008 to Nov 2010   |   5,289 subscriptions (11.7%)</a:t>
            </a:r>
            <a:endParaRPr lang="en-US" sz="1600" dirty="0"/>
          </a:p>
        </p:txBody>
      </p:sp>
      <p:sp>
        <p:nvSpPr>
          <p:cNvPr id="5" name="Audience"/>
          <p:cNvSpPr txBox="1"/>
          <p:nvPr/>
        </p:nvSpPr>
        <p:spPr>
          <a:xfrm>
            <a:off x="548640" y="4663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Prepared for the Marketing and Retail Banking leadership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tx1"/>
                </a:solidFill>
              </a:rPr>
              <a:t>Targeted calling could deliver the same subscriptions with roughly 60% fewer calls</a:t>
            </a:r>
            <a:endParaRPr lang="en-US" sz="2600" dirty="0"/>
          </a:p>
        </p:txBody>
      </p:sp>
      <p:sp>
        <p:nvSpPr>
          <p:cNvPr id="4" name="Exec card 1"/>
          <p:cNvSpPr/>
          <p:nvPr/>
        </p:nvSpPr>
        <p:spPr>
          <a:xfrm>
            <a:off x="548640" y="1783080"/>
            <a:ext cx="5449824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ec text 1"/>
          <p:cNvSpPr txBox="1"/>
          <p:nvPr/>
        </p:nvSpPr>
        <p:spPr>
          <a:xfrm>
            <a:off x="822960" y="1965960"/>
            <a:ext cx="49011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SCALE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Only one call in nine converts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45,211 calls produced 5,289 subscriptions (11.7%). 39,922 calls ended in a no.</a:t>
            </a:r>
            <a:endParaRPr lang="en-US" sz="1000" dirty="0"/>
          </a:p>
        </p:txBody>
      </p:sp>
      <p:sp>
        <p:nvSpPr>
          <p:cNvPr id="6" name="Exec card 2"/>
          <p:cNvSpPr/>
          <p:nvPr/>
        </p:nvSpPr>
        <p:spPr>
          <a:xfrm>
            <a:off x="6190488" y="1783080"/>
            <a:ext cx="5449824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Exec text 2"/>
          <p:cNvSpPr txBox="1"/>
          <p:nvPr/>
        </p:nvSpPr>
        <p:spPr>
          <a:xfrm>
            <a:off x="6464808" y="1965960"/>
            <a:ext cx="49011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CONCENTRATION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Yield sits in a small, identifiable pool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Clients who said yes to an earlier campaign convert at 65% (vs 9% with no history); clients without loans at 18%; clients aged 60+ at 34%.</a:t>
            </a:r>
            <a:endParaRPr lang="en-US" sz="1000" dirty="0"/>
          </a:p>
        </p:txBody>
      </p:sp>
      <p:sp>
        <p:nvSpPr>
          <p:cNvPr id="8" name="Exec card 3"/>
          <p:cNvSpPr/>
          <p:nvPr/>
        </p:nvSpPr>
        <p:spPr>
          <a:xfrm>
            <a:off x="548640" y="3977640"/>
            <a:ext cx="5449824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ec text 3"/>
          <p:cNvSpPr txBox="1"/>
          <p:nvPr/>
        </p:nvSpPr>
        <p:spPr>
          <a:xfrm>
            <a:off x="822960" y="4160520"/>
            <a:ext cx="49011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ROOT CAUSE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Better targeting, not more calls, drove the lift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Conversion rose from 5% in 2008 to 52% in 2010 as the call list shifted to warmer clients, while call volume fell 90%.</a:t>
            </a:r>
            <a:endParaRPr lang="en-US" sz="1000" dirty="0"/>
          </a:p>
        </p:txBody>
      </p:sp>
      <p:sp>
        <p:nvSpPr>
          <p:cNvPr id="10" name="Exec card 4"/>
          <p:cNvSpPr/>
          <p:nvPr/>
        </p:nvSpPr>
        <p:spPr>
          <a:xfrm>
            <a:off x="6190488" y="3977640"/>
            <a:ext cx="5449824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Exec text 4"/>
          <p:cNvSpPr txBox="1"/>
          <p:nvPr/>
        </p:nvSpPr>
        <p:spPr>
          <a:xfrm>
            <a:off x="6464808" y="4160520"/>
            <a:ext cx="49011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SO WHAT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 scoring model reaches half of subscribers with a fifth of the calls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On held-out data, the top 20% of ranked clients contain 50% of subscribers at 2.5x the random hit rate. The model must be refreshed: accuracy fades on later data.</a:t>
            </a:r>
            <a:endParaRPr lang="en-US" sz="1000" dirty="0"/>
          </a:p>
        </p:txBody>
      </p:sp>
      <p:sp>
        <p:nvSpPr>
          <p:cNvPr id="12" name="Source"/>
          <p:cNvSpPr txBox="1"/>
          <p:nvPr/>
        </p:nvSpPr>
        <p:spPr>
          <a:xfrm>
            <a:off x="548640" y="614476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Source: bank marketing call records (n = 45,211); team analysis. Year inferred from file order.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WHERE THE EFFORT WENT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tx1"/>
                </a:solidFill>
              </a:rPr>
              <a:t>2008 took 61% of all calls but produced 26% of subscriptions; 2010 took 6% and produced 26%</a:t>
            </a:r>
            <a:endParaRPr lang="en-US" sz="2600" dirty="0"/>
          </a:p>
        </p:txBody>
      </p:sp>
      <p:sp>
        <p:nvSpPr>
          <p:cNvPr id="4" name="KPI card 1"/>
          <p:cNvSpPr/>
          <p:nvPr/>
        </p:nvSpPr>
        <p:spPr>
          <a:xfrm>
            <a:off x="548640" y="1691640"/>
            <a:ext cx="26517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PI 1"/>
          <p:cNvSpPr txBox="1"/>
          <p:nvPr/>
        </p:nvSpPr>
        <p:spPr>
          <a:xfrm>
            <a:off x="777240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45,211</a:t>
            </a:r>
            <a:endParaRPr lang="en-US" sz="2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client calls</a:t>
            </a:r>
            <a:endParaRPr lang="en-US" sz="2400" dirty="0"/>
          </a:p>
        </p:txBody>
      </p:sp>
      <p:sp>
        <p:nvSpPr>
          <p:cNvPr id="6" name="KPI card 2"/>
          <p:cNvSpPr/>
          <p:nvPr/>
        </p:nvSpPr>
        <p:spPr>
          <a:xfrm>
            <a:off x="3346704" y="1691640"/>
            <a:ext cx="26517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KPI 2"/>
          <p:cNvSpPr txBox="1"/>
          <p:nvPr/>
        </p:nvSpPr>
        <p:spPr>
          <a:xfrm>
            <a:off x="3575304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5,289</a:t>
            </a:r>
            <a:endParaRPr lang="en-US" sz="2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subscriptions</a:t>
            </a:r>
            <a:endParaRPr lang="en-US" sz="2400" dirty="0"/>
          </a:p>
        </p:txBody>
      </p:sp>
      <p:sp>
        <p:nvSpPr>
          <p:cNvPr id="8" name="KPI card 3"/>
          <p:cNvSpPr/>
          <p:nvPr/>
        </p:nvSpPr>
        <p:spPr>
          <a:xfrm>
            <a:off x="6144768" y="1691640"/>
            <a:ext cx="26517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KPI 3"/>
          <p:cNvSpPr txBox="1"/>
          <p:nvPr/>
        </p:nvSpPr>
        <p:spPr>
          <a:xfrm>
            <a:off x="6373368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11.7%</a:t>
            </a:r>
            <a:endParaRPr lang="en-US" sz="2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overall conversion</a:t>
            </a:r>
            <a:endParaRPr lang="en-US" sz="2400" dirty="0"/>
          </a:p>
        </p:txBody>
      </p:sp>
      <p:sp>
        <p:nvSpPr>
          <p:cNvPr id="10" name="KPI card 4"/>
          <p:cNvSpPr/>
          <p:nvPr/>
        </p:nvSpPr>
        <p:spPr>
          <a:xfrm>
            <a:off x="8942832" y="1691640"/>
            <a:ext cx="26517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KPI 4"/>
          <p:cNvSpPr txBox="1"/>
          <p:nvPr/>
        </p:nvSpPr>
        <p:spPr>
          <a:xfrm>
            <a:off x="9171432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 years</a:t>
            </a:r>
            <a:endParaRPr lang="en-US" sz="2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May 2008 to Nov 2010</a:t>
            </a:r>
            <a:endParaRPr lang="en-US" sz="2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2743200"/>
          <a:ext cx="54406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Chart 1" descr=""/>
          <p:cNvGraphicFramePr/>
          <p:nvPr/>
        </p:nvGraphicFramePr>
        <p:xfrm>
          <a:off x="6199632" y="2743200"/>
          <a:ext cx="54406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akeaway"/>
          <p:cNvSpPr txBox="1"/>
          <p:nvPr/>
        </p:nvSpPr>
        <p:spPr>
          <a:xfrm>
            <a:off x="548640" y="568756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Volume fell 90% from 2008 to 2010 while conversion rose tenfold: effort was concentrated where it paid least.</a:t>
            </a:r>
            <a:endParaRPr lang="en-US" sz="1200" dirty="0"/>
          </a:p>
        </p:txBody>
      </p:sp>
      <p:sp>
        <p:nvSpPr>
          <p:cNvPr id="15" name="Source"/>
          <p:cNvSpPr txBox="1"/>
          <p:nvPr/>
        </p:nvSpPr>
        <p:spPr>
          <a:xfrm>
            <a:off x="548640" y="614476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Note: year inferred from file order; 2008 starts in May and 2010 ends in November. Source: bank marketing call records; team analysis.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ROOT CAUSE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tx1"/>
                </a:solidFill>
              </a:rPr>
              <a:t>Conversion rose tenfold as the call list shifted toward warmer, debt-free and older clients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0408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igNumber card"/>
          <p:cNvSpPr/>
          <p:nvPr/>
        </p:nvSpPr>
        <p:spPr>
          <a:xfrm>
            <a:off x="7863840" y="1737360"/>
            <a:ext cx="3776472" cy="23317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BigNumber"/>
          <p:cNvSpPr txBox="1"/>
          <p:nvPr/>
        </p:nvSpPr>
        <p:spPr>
          <a:xfrm>
            <a:off x="8138160" y="1874520"/>
            <a:ext cx="3227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10x</a:t>
            </a:r>
            <a:endParaRPr lang="en-US" sz="6000" dirty="0"/>
          </a:p>
        </p:txBody>
      </p:sp>
      <p:sp>
        <p:nvSpPr>
          <p:cNvPr id="7" name="BigNumber text"/>
          <p:cNvSpPr txBox="1"/>
          <p:nvPr/>
        </p:nvSpPr>
        <p:spPr>
          <a:xfrm>
            <a:off x="8138160" y="2926080"/>
            <a:ext cx="3227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rise in conversion from 2008 (5.1%) to 2010 (51.6%), with 90% fewer calls</a:t>
            </a:r>
            <a:endParaRPr lang="en-US" sz="1250" dirty="0"/>
          </a:p>
        </p:txBody>
      </p:sp>
      <p:sp>
        <p:nvSpPr>
          <p:cNvPr id="8" name="Caution card"/>
          <p:cNvSpPr/>
          <p:nvPr/>
        </p:nvSpPr>
        <p:spPr>
          <a:xfrm>
            <a:off x="7863840" y="4251960"/>
            <a:ext cx="3776472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ution"/>
          <p:cNvSpPr txBox="1"/>
          <p:nvPr/>
        </p:nvSpPr>
        <p:spPr>
          <a:xfrm>
            <a:off x="8092440" y="4361688"/>
            <a:ext cx="331927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Association, not proof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The bank may also have changed scripts, products or rates over the period. The data cannot separate these effects.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548640" y="568756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Calls to clients with a prior contact grew from 3% to 66% of volume; calls to clients aged 60+ grew from 1.5% to 20%.</a:t>
            </a:r>
            <a:endParaRPr lang="en-US" sz="1200" dirty="0"/>
          </a:p>
        </p:txBody>
      </p:sp>
      <p:sp>
        <p:nvSpPr>
          <p:cNvPr id="11" name="Source"/>
          <p:cNvSpPr txBox="1"/>
          <p:nvPr/>
        </p:nvSpPr>
        <p:spPr>
          <a:xfrm>
            <a:off x="548640" y="614476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Source: bank marketing call records; year inferred from file order; team analysis.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CONCENTRATION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tx1"/>
                </a:solidFill>
              </a:rPr>
              <a:t>Clients who subscribed before are seven times likelier to say yes, yet they are only 3% of calls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5836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igNumber card"/>
          <p:cNvSpPr/>
          <p:nvPr/>
        </p:nvSpPr>
        <p:spPr>
          <a:xfrm>
            <a:off x="7406640" y="1737360"/>
            <a:ext cx="4233672" cy="20116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BigNumber"/>
          <p:cNvSpPr txBox="1"/>
          <p:nvPr/>
        </p:nvSpPr>
        <p:spPr>
          <a:xfrm>
            <a:off x="7680960" y="1874520"/>
            <a:ext cx="3685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7x</a:t>
            </a:r>
            <a:endParaRPr lang="en-US" sz="6000" dirty="0"/>
          </a:p>
        </p:txBody>
      </p:sp>
      <p:sp>
        <p:nvSpPr>
          <p:cNvPr id="7" name="BigNumber text"/>
          <p:cNvSpPr txBox="1"/>
          <p:nvPr/>
        </p:nvSpPr>
        <p:spPr>
          <a:xfrm>
            <a:off x="7680960" y="2926080"/>
            <a:ext cx="3685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64.7% conversion for prior-success clients vs 9.2% for clients never contacted</a:t>
            </a:r>
            <a:endParaRPr lang="en-US" sz="1250" dirty="0"/>
          </a:p>
        </p:txBody>
      </p:sp>
      <p:sp>
        <p:nvSpPr>
          <p:cNvPr id="8" name="Share card"/>
          <p:cNvSpPr/>
          <p:nvPr/>
        </p:nvSpPr>
        <p:spPr>
          <a:xfrm>
            <a:off x="7406640" y="3931920"/>
            <a:ext cx="4233672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re"/>
          <p:cNvSpPr txBox="1"/>
          <p:nvPr/>
        </p:nvSpPr>
        <p:spPr>
          <a:xfrm>
            <a:off x="7635240" y="4041648"/>
            <a:ext cx="3776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18.5% of subscriptions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from 3.3% of calls (1,511 clients)</a:t>
            </a:r>
            <a:endParaRPr lang="en-US" sz="1400" dirty="0"/>
          </a:p>
        </p:txBody>
      </p:sp>
      <p:sp>
        <p:nvSpPr>
          <p:cNvPr id="10" name="Recency card"/>
          <p:cNvSpPr/>
          <p:nvPr/>
        </p:nvSpPr>
        <p:spPr>
          <a:xfrm>
            <a:off x="7406640" y="4846320"/>
            <a:ext cx="4233672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Recency"/>
          <p:cNvSpPr txBox="1"/>
          <p:nvPr/>
        </p:nvSpPr>
        <p:spPr>
          <a:xfrm>
            <a:off x="7635240" y="4956048"/>
            <a:ext cx="3776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42% conversion on re-contact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30 to 90 days after the last call (n = 530)</a:t>
            </a:r>
            <a:endParaRPr lang="en-US" sz="1400" dirty="0"/>
          </a:p>
        </p:txBody>
      </p:sp>
      <p:sp>
        <p:nvSpPr>
          <p:cNvPr id="12" name="Takeaway"/>
          <p:cNvSpPr txBox="1"/>
          <p:nvPr/>
        </p:nvSpPr>
        <p:spPr>
          <a:xfrm>
            <a:off x="548640" y="568756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Impact: </a:t>
            </a:r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Re-activating prior-success clients first is the highest-yield use of a call; a 1 to 3 month follow-up window looks best.</a:t>
            </a:r>
            <a:endParaRPr lang="en-US" sz="1200" dirty="0"/>
          </a:p>
        </p:txBody>
      </p:sp>
      <p:sp>
        <p:nvSpPr>
          <p:cNvPr id="13" name="Source"/>
          <p:cNvSpPr txBox="1"/>
          <p:nvPr/>
        </p:nvSpPr>
        <p:spPr>
          <a:xfrm>
            <a:off x="548640" y="614476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Source: bank marketing call records; team analysis. Recency measured on clients with a recorded earlier contact.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SEGMENTS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tx1"/>
                </a:solidFill>
              </a:rPr>
              <a:t>Older, student and debt-free clients beat the average, but the gap depends on the campaign phase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5836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Housing card"/>
          <p:cNvSpPr/>
          <p:nvPr/>
        </p:nvSpPr>
        <p:spPr>
          <a:xfrm>
            <a:off x="7406640" y="1737360"/>
            <a:ext cx="4233672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Housing"/>
          <p:cNvSpPr txBox="1"/>
          <p:nvPr/>
        </p:nvSpPr>
        <p:spPr>
          <a:xfrm>
            <a:off x="7635240" y="1847088"/>
            <a:ext cx="37764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About 30% lower odds with a housing loan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Still holds after controlling for campaign timing (odds ratio 0.70). Unadjusted it looks like 50%.</a:t>
            </a:r>
            <a:endParaRPr lang="en-US" sz="1400" dirty="0"/>
          </a:p>
        </p:txBody>
      </p:sp>
      <p:sp>
        <p:nvSpPr>
          <p:cNvPr id="7" name="Age card"/>
          <p:cNvSpPr/>
          <p:nvPr/>
        </p:nvSpPr>
        <p:spPr>
          <a:xfrm>
            <a:off x="7406640" y="3063240"/>
            <a:ext cx="4233672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ge"/>
          <p:cNvSpPr txBox="1"/>
          <p:nvPr/>
        </p:nvSpPr>
        <p:spPr>
          <a:xfrm>
            <a:off x="7635240" y="3172968"/>
            <a:ext cx="37764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About 1.4x the odds at age 60+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vs clients aged 40 to 49, after controlling for timing. The jump is abrupt at age 60, which suggests deliberate targeting.</a:t>
            </a:r>
            <a:endParaRPr lang="en-US" sz="1400" dirty="0"/>
          </a:p>
        </p:txBody>
      </p:sp>
      <p:sp>
        <p:nvSpPr>
          <p:cNvPr id="9" name="Phase card"/>
          <p:cNvSpPr/>
          <p:nvPr/>
        </p:nvSpPr>
        <p:spPr>
          <a:xfrm>
            <a:off x="7406640" y="4389120"/>
            <a:ext cx="4233672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hase"/>
          <p:cNvSpPr txBox="1"/>
          <p:nvPr/>
        </p:nvSpPr>
        <p:spPr>
          <a:xfrm>
            <a:off x="7635240" y="4498848"/>
            <a:ext cx="37764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Gaps nearly vanish in 2008 and 2010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Age 60+ vs under 60: 36% vs 16% in 2009, but 6% vs 5% in 2008 and 52% vs 52% in 2010.</a:t>
            </a:r>
            <a:endParaRPr lang="en-US" sz="1400" dirty="0"/>
          </a:p>
        </p:txBody>
      </p:sp>
      <p:sp>
        <p:nvSpPr>
          <p:cNvPr id="11" name="Takeaway"/>
          <p:cNvSpPr txBox="1"/>
          <p:nvPr/>
        </p:nvSpPr>
        <p:spPr>
          <a:xfrm>
            <a:off x="548640" y="568756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These segments are real signals but not universal rules: use them to rank clients, not to exclude anyone outright.</a:t>
            </a:r>
            <a:endParaRPr lang="en-US" sz="1200" dirty="0"/>
          </a:p>
        </p:txBody>
      </p:sp>
      <p:sp>
        <p:nvSpPr>
          <p:cNvPr id="12" name="Source"/>
          <p:cNvSpPr txBox="1"/>
          <p:nvPr/>
        </p:nvSpPr>
        <p:spPr>
          <a:xfrm>
            <a:off x="548640" y="614476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Note: red = above the 11.7% average, grey = below. Odds ratios from logistic regression on all 45,211 calls. Source: team analysis.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CALL DISCIPLINE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tx1"/>
                </a:solidFill>
              </a:rPr>
              <a:t>Repeat calls hit diminishing returns: the fourth attempt onward converts at half the first-call rate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8580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igNumber card"/>
          <p:cNvSpPr/>
          <p:nvPr/>
        </p:nvSpPr>
        <p:spPr>
          <a:xfrm>
            <a:off x="7680960" y="1737360"/>
            <a:ext cx="3959352" cy="23317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BigNumber"/>
          <p:cNvSpPr txBox="1"/>
          <p:nvPr/>
        </p:nvSpPr>
        <p:spPr>
          <a:xfrm>
            <a:off x="7955280" y="1874520"/>
            <a:ext cx="3410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21%</a:t>
            </a:r>
            <a:endParaRPr lang="en-US" sz="6000" dirty="0"/>
          </a:p>
        </p:txBody>
      </p:sp>
      <p:sp>
        <p:nvSpPr>
          <p:cNvPr id="7" name="BigNumber text"/>
          <p:cNvSpPr txBox="1"/>
          <p:nvPr/>
        </p:nvSpPr>
        <p:spPr>
          <a:xfrm>
            <a:off x="7955280" y="2926080"/>
            <a:ext cx="3410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of calls were 4th attempts or later, yet produced only 13% of subscriptions (7.4% hit rate)</a:t>
            </a:r>
            <a:endParaRPr lang="en-US" sz="1250" dirty="0"/>
          </a:p>
        </p:txBody>
      </p:sp>
      <p:sp>
        <p:nvSpPr>
          <p:cNvPr id="8" name="Decay card"/>
          <p:cNvSpPr/>
          <p:nvPr/>
        </p:nvSpPr>
        <p:spPr>
          <a:xfrm>
            <a:off x="7680960" y="4251960"/>
            <a:ext cx="3959352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ecay"/>
          <p:cNvSpPr txBox="1"/>
          <p:nvPr/>
        </p:nvSpPr>
        <p:spPr>
          <a:xfrm>
            <a:off x="7909560" y="4361688"/>
            <a:ext cx="35021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Hit rate halves by the 6th call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14.6% on the 1st call, 7.1% on the 6th, 5.3% on the 10th.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548640" y="568756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Impact: </a:t>
            </a:r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Redeploying the 9,641 late-attempt calls to higher-scored clients is the cheapest lever; the trade-off is the 709 subscriptions they produced.</a:t>
            </a:r>
            <a:endParaRPr lang="en-US" sz="1200" dirty="0"/>
          </a:p>
        </p:txBody>
      </p:sp>
      <p:sp>
        <p:nvSpPr>
          <p:cNvPr id="11" name="Source"/>
          <p:cNvSpPr txBox="1"/>
          <p:nvPr/>
        </p:nvSpPr>
        <p:spPr>
          <a:xfrm>
            <a:off x="548640" y="614476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Note: attempts also reflect how reluctant a client is, so this shows where calls are least productive, not that extra calls cause refusals. Source: team analysis.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THE OPPORTUNITY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tx1"/>
                </a:solidFill>
              </a:rPr>
              <a:t>A simple scoring model reaches half of all subscribers with one-fifth of the calls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4922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ble title"/>
          <p:cNvSpPr txBox="1"/>
          <p:nvPr/>
        </p:nvSpPr>
        <p:spPr>
          <a:xfrm>
            <a:off x="7315200" y="173736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F47"/>
                </a:solidFill>
              </a:rPr>
              <a:t>Held-out test results, client-only model</a:t>
            </a:r>
            <a:endParaRPr lang="en-US" sz="1200" dirty="0"/>
          </a:p>
        </p:txBody>
      </p:sp>
      <p:graphicFrame>
        <p:nvGraphicFramePr>
          <p:cNvPr id="9" name="Gai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103120"/>
          <a:ext cx="432511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280160"/>
                <a:gridCol w="914400"/>
                <a:gridCol w="98755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Clients called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Subscribers reached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Hit rate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Lift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0D0D"/>
                          </a:solidFill>
                        </a:rPr>
                        <a:t>Top 10%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0D0D"/>
                          </a:solidFill>
                        </a:rPr>
                        <a:t>35%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0D0D"/>
                          </a:solidFill>
                        </a:rPr>
                        <a:t>41%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0D0D"/>
                          </a:solidFill>
                        </a:rPr>
                        <a:t>3.5x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0D0D"/>
                          </a:solidFill>
                        </a:rPr>
                        <a:t>Top 20%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0D0D"/>
                          </a:solidFill>
                        </a:rPr>
                        <a:t>50%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0D0D"/>
                          </a:solidFill>
                        </a:rPr>
                        <a:t>29%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0D0D"/>
                          </a:solidFill>
                        </a:rPr>
                        <a:t>2.5x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0D0D"/>
                          </a:solidFill>
                        </a:rPr>
                        <a:t>Top 30%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0D0D"/>
                          </a:solidFill>
                        </a:rPr>
                        <a:t>61%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0D0D"/>
                          </a:solidFill>
                        </a:rPr>
                        <a:t>24%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0D0D"/>
                          </a:solidFill>
                        </a:rPr>
                        <a:t>2.0x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0D0D"/>
                          </a:solidFill>
                        </a:rPr>
                        <a:t>Top 50%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0D0D"/>
                          </a:solidFill>
                        </a:rPr>
                        <a:t>77%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0D0D"/>
                          </a:solidFill>
                        </a:rPr>
                        <a:t>18%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0D0D"/>
                          </a:solidFill>
                        </a:rPr>
                        <a:t>1.5x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0D0D"/>
                          </a:solidFill>
                        </a:rPr>
                        <a:t>Random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0D0D"/>
                          </a:solidFill>
                        </a:rPr>
                        <a:t>= share called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0D0D"/>
                          </a:solidFill>
                        </a:rPr>
                        <a:t>12%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0D0D"/>
                          </a:solidFill>
                        </a:rPr>
                        <a:t>1.0x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Model note"/>
          <p:cNvSpPr txBox="1"/>
          <p:nvPr/>
        </p:nvSpPr>
        <p:spPr>
          <a:xfrm>
            <a:off x="7315200" y="4937760"/>
            <a:ext cx="4325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Model: logistic regression on client profile, history and attempts; AUC 0.73. No call-duration or timing inputs.</a:t>
            </a:r>
            <a:endParaRPr lang="en-US" sz="1050" dirty="0"/>
          </a:p>
        </p:txBody>
      </p:sp>
      <p:sp>
        <p:nvSpPr>
          <p:cNvPr id="8" name="Takeaway"/>
          <p:cNvSpPr txBox="1"/>
          <p:nvPr/>
        </p:nvSpPr>
        <p:spPr>
          <a:xfrm>
            <a:off x="548640" y="568756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Impact: </a:t>
            </a:r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Reaching ~50% of subscribers takes 20% of calls instead of ~50% under random dialling: about 60% fewer calls for the same result (test-set basis, not a forecast).</a:t>
            </a:r>
            <a:endParaRPr lang="en-US" sz="1200" dirty="0"/>
          </a:p>
        </p:txBody>
      </p:sp>
      <p:sp>
        <p:nvSpPr>
          <p:cNvPr id="9" name="Source"/>
          <p:cNvSpPr txBox="1"/>
          <p:nvPr/>
        </p:nvSpPr>
        <p:spPr>
          <a:xfrm>
            <a:off x="548640" y="614476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Source: 30% held-out test set (13,564 calls), stratified random split; team analysis.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RISKS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tx1"/>
                </a:solidFill>
              </a:rPr>
              <a:t>Models that lean on campaign timing fail on later data, so deploy the client-only model and refresh it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5836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igNumber card"/>
          <p:cNvSpPr/>
          <p:nvPr/>
        </p:nvSpPr>
        <p:spPr>
          <a:xfrm>
            <a:off x="7406640" y="1737360"/>
            <a:ext cx="4233672" cy="21031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BigNumber"/>
          <p:cNvSpPr txBox="1"/>
          <p:nvPr/>
        </p:nvSpPr>
        <p:spPr>
          <a:xfrm>
            <a:off x="7680960" y="1874520"/>
            <a:ext cx="3685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3x</a:t>
            </a:r>
            <a:endParaRPr lang="en-US" sz="6000" dirty="0"/>
          </a:p>
        </p:txBody>
      </p:sp>
      <p:sp>
        <p:nvSpPr>
          <p:cNvPr id="7" name="BigNumber text"/>
          <p:cNvSpPr txBox="1"/>
          <p:nvPr/>
        </p:nvSpPr>
        <p:spPr>
          <a:xfrm>
            <a:off x="7680960" y="2926080"/>
            <a:ext cx="3685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under-prediction on the later period: the client-only model forecasts ~7% subscription vs 25% actual (other models 9 to 15%). Rankings hold; absolute rates do not</a:t>
            </a:r>
            <a:endParaRPr lang="en-US" sz="1250" dirty="0"/>
          </a:p>
        </p:txBody>
      </p:sp>
      <p:sp>
        <p:nvSpPr>
          <p:cNvPr id="8" name="Obs card"/>
          <p:cNvSpPr/>
          <p:nvPr/>
        </p:nvSpPr>
        <p:spPr>
          <a:xfrm>
            <a:off x="7406640" y="3977640"/>
            <a:ext cx="4233672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Obs"/>
          <p:cNvSpPr txBox="1"/>
          <p:nvPr/>
        </p:nvSpPr>
        <p:spPr>
          <a:xfrm>
            <a:off x="7635240" y="4087368"/>
            <a:ext cx="3776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Observational data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The bank chose whom to call; segment effects may reflect selection</a:t>
            </a:r>
            <a:endParaRPr lang="en-US" sz="1400" dirty="0"/>
          </a:p>
        </p:txBody>
      </p:sp>
      <p:sp>
        <p:nvSpPr>
          <p:cNvPr id="10" name="Hist card"/>
          <p:cNvSpPr/>
          <p:nvPr/>
        </p:nvSpPr>
        <p:spPr>
          <a:xfrm>
            <a:off x="7406640" y="4846320"/>
            <a:ext cx="4233672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Hist"/>
          <p:cNvSpPr txBox="1"/>
          <p:nvPr/>
        </p:nvSpPr>
        <p:spPr>
          <a:xfrm>
            <a:off x="7635240" y="4956048"/>
            <a:ext cx="3776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Short, shifting history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Three years; year inferred from row order</a:t>
            </a:r>
            <a:endParaRPr lang="en-US" sz="1400" dirty="0"/>
          </a:p>
        </p:txBody>
      </p:sp>
      <p:sp>
        <p:nvSpPr>
          <p:cNvPr id="12" name="Takeaway"/>
          <p:cNvSpPr txBox="1"/>
          <p:nvPr/>
        </p:nvSpPr>
        <p:spPr>
          <a:xfrm>
            <a:off x="548640" y="568756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Timing-aware models look better in a random split (0.80) but lose ground out of time (0.70); the client-only model barely moves (0.73).</a:t>
            </a:r>
            <a:endParaRPr lang="en-US" sz="1200" dirty="0"/>
          </a:p>
        </p:txBody>
      </p:sp>
      <p:sp>
        <p:nvSpPr>
          <p:cNvPr id="13" name="Source"/>
          <p:cNvSpPr txBox="1"/>
          <p:nvPr/>
        </p:nvSpPr>
        <p:spPr>
          <a:xfrm>
            <a:off x="548640" y="614476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Note: later-period test trains on the earliest 70% of rows and tests on the latest 30% (5.8% vs 25.4% subscription rate). Source: team analysis.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RECOMMENDATIONS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bg1"/>
                </a:solidFill>
              </a:rPr>
              <a:t>Four moves to turn the analysis into a higher-yield campaign</a:t>
            </a:r>
            <a:endParaRPr lang="en-US" sz="2600" dirty="0"/>
          </a:p>
        </p:txBody>
      </p:sp>
      <p:sp>
        <p:nvSpPr>
          <p:cNvPr id="4" name="Rec card 01"/>
          <p:cNvSpPr/>
          <p:nvPr/>
        </p:nvSpPr>
        <p:spPr>
          <a:xfrm>
            <a:off x="548640" y="1783080"/>
            <a:ext cx="5449824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Rec number 01"/>
          <p:cNvSpPr txBox="1"/>
          <p:nvPr/>
        </p:nvSpPr>
        <p:spPr>
          <a:xfrm>
            <a:off x="82296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01</a:t>
            </a:r>
            <a:endParaRPr lang="en-US" sz="3200" dirty="0"/>
          </a:p>
        </p:txBody>
      </p:sp>
      <p:sp>
        <p:nvSpPr>
          <p:cNvPr id="6" name="Rec text 01"/>
          <p:cNvSpPr txBox="1"/>
          <p:nvPr/>
        </p:nvSpPr>
        <p:spPr>
          <a:xfrm>
            <a:off x="1645920" y="1965960"/>
            <a:ext cx="4078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Rank clients and call the top 20 to 30% first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</a:rPr>
              <a:t>A client-only score puts 50% of subscribers in the top 20% of calls and 61% in the top 30%.</a:t>
            </a:r>
            <a:endParaRPr lang="en-US" sz="1500" dirty="0"/>
          </a:p>
        </p:txBody>
      </p:sp>
      <p:sp>
        <p:nvSpPr>
          <p:cNvPr id="7" name="Rec card 02"/>
          <p:cNvSpPr/>
          <p:nvPr/>
        </p:nvSpPr>
        <p:spPr>
          <a:xfrm>
            <a:off x="6190488" y="1783080"/>
            <a:ext cx="5449824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Rec number 02"/>
          <p:cNvSpPr txBox="1"/>
          <p:nvPr/>
        </p:nvSpPr>
        <p:spPr>
          <a:xfrm>
            <a:off x="6464808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02</a:t>
            </a:r>
            <a:endParaRPr lang="en-US" sz="3200" dirty="0"/>
          </a:p>
        </p:txBody>
      </p:sp>
      <p:sp>
        <p:nvSpPr>
          <p:cNvPr id="9" name="Rec text 02"/>
          <p:cNvSpPr txBox="1"/>
          <p:nvPr/>
        </p:nvSpPr>
        <p:spPr>
          <a:xfrm>
            <a:off x="7287768" y="1965960"/>
            <a:ext cx="4078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Work the prior-success list before anything else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</a:rPr>
              <a:t>1,511 clients convert at 65% and supply 18% of subscriptions; re-contact in the 1 to 3 month window.</a:t>
            </a:r>
            <a:endParaRPr lang="en-US" sz="1500" dirty="0"/>
          </a:p>
        </p:txBody>
      </p:sp>
      <p:sp>
        <p:nvSpPr>
          <p:cNvPr id="10" name="Rec card 03"/>
          <p:cNvSpPr/>
          <p:nvPr/>
        </p:nvSpPr>
        <p:spPr>
          <a:xfrm>
            <a:off x="548640" y="3977640"/>
            <a:ext cx="5449824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Rec number 03"/>
          <p:cNvSpPr txBox="1"/>
          <p:nvPr/>
        </p:nvSpPr>
        <p:spPr>
          <a:xfrm>
            <a:off x="822960" y="4160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03</a:t>
            </a:r>
            <a:endParaRPr lang="en-US" sz="3200" dirty="0"/>
          </a:p>
        </p:txBody>
      </p:sp>
      <p:sp>
        <p:nvSpPr>
          <p:cNvPr id="12" name="Rec text 03"/>
          <p:cNvSpPr txBox="1"/>
          <p:nvPr/>
        </p:nvSpPr>
        <p:spPr>
          <a:xfrm>
            <a:off x="1645920" y="4160520"/>
            <a:ext cx="4078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Make a fourth attempt the exception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</a:rPr>
              <a:t>Calls 4+ are 21% of volume but 13% of subscriptions at a 7.4% hit rate; redeploy them to higher-scored clients.</a:t>
            </a:r>
            <a:endParaRPr lang="en-US" sz="1500" dirty="0"/>
          </a:p>
        </p:txBody>
      </p:sp>
      <p:sp>
        <p:nvSpPr>
          <p:cNvPr id="13" name="Rec card 04"/>
          <p:cNvSpPr/>
          <p:nvPr/>
        </p:nvSpPr>
        <p:spPr>
          <a:xfrm>
            <a:off x="6190488" y="3977640"/>
            <a:ext cx="5449824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Rec number 04"/>
          <p:cNvSpPr txBox="1"/>
          <p:nvPr/>
        </p:nvSpPr>
        <p:spPr>
          <a:xfrm>
            <a:off x="6464808" y="4160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04</a:t>
            </a:r>
            <a:endParaRPr lang="en-US" sz="3200" dirty="0"/>
          </a:p>
        </p:txBody>
      </p:sp>
      <p:sp>
        <p:nvSpPr>
          <p:cNvPr id="15" name="Rec text 04"/>
          <p:cNvSpPr txBox="1"/>
          <p:nvPr/>
        </p:nvSpPr>
        <p:spPr>
          <a:xfrm>
            <a:off x="7287768" y="4160520"/>
            <a:ext cx="4078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Test, recalibrate and refresh the model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</a:rPr>
              <a:t>Randomise a slice of calls to measure true uplift; refit on recent data each quarter, since probabilities under-predict by up to 3x out of time.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APPENDIX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tx1"/>
                </a:solidFill>
              </a:rPr>
              <a:t>How the numbers were produced and where they should be read with care</a:t>
            </a:r>
            <a:endParaRPr lang="en-US" sz="2600" dirty="0"/>
          </a:p>
        </p:txBody>
      </p:sp>
      <p:sp>
        <p:nvSpPr>
          <p:cNvPr id="4" name="Approach card"/>
          <p:cNvSpPr/>
          <p:nvPr/>
        </p:nvSpPr>
        <p:spPr>
          <a:xfrm>
            <a:off x="548640" y="1737360"/>
            <a:ext cx="5449824" cy="4297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pproach head"/>
          <p:cNvSpPr txBox="1"/>
          <p:nvPr/>
        </p:nvSpPr>
        <p:spPr>
          <a:xfrm>
            <a:off x="82296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we did</a:t>
            </a:r>
            <a:endParaRPr lang="en-US" sz="1500" dirty="0"/>
          </a:p>
        </p:txBody>
      </p:sp>
      <p:sp>
        <p:nvSpPr>
          <p:cNvPr id="6" name="Approach list"/>
          <p:cNvSpPr txBox="1"/>
          <p:nvPr/>
        </p:nvSpPr>
        <p:spPr>
          <a:xfrm>
            <a:off x="822960" y="228600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Data: 45,211 outbound calls (client profile, call history, outcome).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Conversion = client subscribed to a term deposit.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Statistical tests and a logistic regression to separate real effects from timing effects.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Decision tree, logistic regression and gradient boosting compared on a 30% held-out set, then on a later time period.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Call duration excluded from all models: it is only known after the call.</a:t>
            </a:r>
            <a:endParaRPr lang="en-US" sz="1200" dirty="0"/>
          </a:p>
        </p:txBody>
      </p:sp>
      <p:sp>
        <p:nvSpPr>
          <p:cNvPr id="7" name="Caveats card"/>
          <p:cNvSpPr/>
          <p:nvPr/>
        </p:nvSpPr>
        <p:spPr>
          <a:xfrm>
            <a:off x="6190488" y="1737360"/>
            <a:ext cx="5449824" cy="4297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veats head"/>
          <p:cNvSpPr txBox="1"/>
          <p:nvPr/>
        </p:nvSpPr>
        <p:spPr>
          <a:xfrm>
            <a:off x="6464808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to keep in mind</a:t>
            </a:r>
            <a:endParaRPr lang="en-US" sz="1500" dirty="0"/>
          </a:p>
        </p:txBody>
      </p:sp>
      <p:sp>
        <p:nvSpPr>
          <p:cNvPr id="9" name="Caveats list"/>
          <p:cNvSpPr txBox="1"/>
          <p:nvPr/>
        </p:nvSpPr>
        <p:spPr>
          <a:xfrm>
            <a:off x="6464808" y="228600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Observational data: the bank chose whom to call, so effects are associations, not proven causes.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The file has months but no years; year is inferred from row order (May 2008 to Nov 2010).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Call strategy changed during the period, so pooled rates mix very different campaigns.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Models rank clients well (AUC 0.73) but do not predict individuals; probabilities need recalibration on recent data.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Illustrative savings (~60% fewer calls) come from the held-out test set, not a forecast.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aign Review">
  <a:themeElements>
    <a:clrScheme name="Campaign Review">
      <a:dk1>
        <a:srgbClr val="0D0D0D"/>
      </a:dk1>
      <a:lt1>
        <a:srgbClr val="FFFFFF"/>
      </a:lt1>
      <a:dk2>
        <a:srgbClr val="2B2F36"/>
      </a:dk2>
      <a:lt2>
        <a:srgbClr val="F3F5F8"/>
      </a:lt2>
      <a:accent1>
        <a:srgbClr val="C8102E"/>
      </a:accent1>
      <a:accent2>
        <a:srgbClr val="3A3F47"/>
      </a:accent2>
      <a:accent3>
        <a:srgbClr val="8E96A3"/>
      </a:accent3>
      <a:accent4>
        <a:srgbClr val="B8BFCA"/>
      </a:accent4>
      <a:accent5>
        <a:srgbClr val="5C6577"/>
      </a:accent5>
      <a:accent6>
        <a:srgbClr val="E1E5EC"/>
      </a:accent6>
      <a:hlink>
        <a:srgbClr val="C8102E"/>
      </a:hlink>
      <a:folHlink>
        <a:srgbClr val="5C6577"/>
      </a:folHlink>
    </a:clrScheme>
    <a:fontScheme name="Campaign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Term-Deposit Campaign Review</dc:title>
  <dc:subject>PptxGenJS Presentation</dc:subject>
  <dc:creator>Consumer Analysis</dc:creator>
  <cp:lastModifiedBy>Consumer Analysis</cp:lastModifiedBy>
  <cp:revision>1</cp:revision>
  <dcterms:created xsi:type="dcterms:W3CDTF">2026-10-02T15:14:31Z</dcterms:created>
  <dcterms:modified xsi:type="dcterms:W3CDTF">2026-10-02T15:14:31Z</dcterms:modified>
</cp:coreProperties>
</file>